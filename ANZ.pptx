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71" r:id="rId7"/>
    <p:sldId id="263" r:id="rId8"/>
    <p:sldId id="270" r:id="rId9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Manrope" panose="020B0604020202020204" charset="0"/>
      <p:regular r:id="rId15"/>
      <p:bold r:id="rId16"/>
    </p:embeddedFont>
    <p:embeddedFont>
      <p:font typeface="Manrope SemiBold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80" autoAdjust="0"/>
  </p:normalViewPr>
  <p:slideViewPr>
    <p:cSldViewPr snapToGrid="0">
      <p:cViewPr varScale="1">
        <p:scale>
          <a:sx n="99" d="100"/>
          <a:sy n="99" d="100"/>
        </p:scale>
        <p:origin x="99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DEDEA3D-F788-C90B-EAC9-E85E9B3A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>
            <a:extLst>
              <a:ext uri="{FF2B5EF4-FFF2-40B4-BE49-F238E27FC236}">
                <a16:creationId xmlns:a16="http://schemas.microsoft.com/office/drawing/2014/main" id="{272C0846-8ABC-31BE-77C9-4C78496A8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>
            <a:extLst>
              <a:ext uri="{FF2B5EF4-FFF2-40B4-BE49-F238E27FC236}">
                <a16:creationId xmlns:a16="http://schemas.microsoft.com/office/drawing/2014/main" id="{8B397DC1-95CD-B742-D4F4-F5490B48E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533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61993" y="7748"/>
            <a:ext cx="9082006" cy="5052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  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Manrope SemiBold"/>
              </a:rPr>
              <a:t>                                  ANZ DIVERSITY HACKATHON           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       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63" y="4186648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3E50E3-73A1-038B-6AE4-FE9E1F389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761397"/>
              </p:ext>
            </p:extLst>
          </p:nvPr>
        </p:nvGraphicFramePr>
        <p:xfrm>
          <a:off x="736169" y="1739196"/>
          <a:ext cx="7361696" cy="16651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8291">
                  <a:extLst>
                    <a:ext uri="{9D8B030D-6E8A-4147-A177-3AD203B41FA5}">
                      <a16:colId xmlns:a16="http://schemas.microsoft.com/office/drawing/2014/main" val="2631912337"/>
                    </a:ext>
                  </a:extLst>
                </a:gridCol>
                <a:gridCol w="4093405">
                  <a:extLst>
                    <a:ext uri="{9D8B030D-6E8A-4147-A177-3AD203B41FA5}">
                      <a16:colId xmlns:a16="http://schemas.microsoft.com/office/drawing/2014/main" val="2850785479"/>
                    </a:ext>
                  </a:extLst>
                </a:gridCol>
              </a:tblGrid>
              <a:tr h="573474"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20272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Manrope SemiBold"/>
                        </a:rPr>
                        <a:t>Team Name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Learnquest</a:t>
                      </a:r>
                      <a:endParaRPr lang="en-IN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948379"/>
                  </a:ext>
                </a:extLst>
              </a:tr>
              <a:tr h="457164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20272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Manrope SemiBold"/>
                        </a:rPr>
                        <a:t>Team Number</a:t>
                      </a:r>
                    </a:p>
                    <a:p>
                      <a:endParaRPr lang="en-GB" sz="1400" b="1" dirty="0">
                        <a:solidFill>
                          <a:srgbClr val="20272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Manrope SemiBold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20272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Manrope SemiBold"/>
                        </a:rPr>
                        <a:t>11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283021"/>
                  </a:ext>
                </a:extLst>
              </a:tr>
              <a:tr h="573474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20272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Manrope SemiBold"/>
                        </a:rPr>
                        <a:t>Problem Statement </a:t>
                      </a:r>
                      <a:endParaRPr lang="en-IN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20272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Manrope SemiBold"/>
                        </a:rPr>
                        <a:t>AI for Learning and Developer Productivity</a:t>
                      </a:r>
                    </a:p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7318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52302" y="604371"/>
            <a:ext cx="8439395" cy="43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OVERVIEW AND IDEA EXPLANATION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LearnQuest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is an AI-powered Learning Management System designed to provide intelligent, structured, and secure digital education.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• The platform integrates course modules, interactive learning content, coding practice, assessments, and certification within a single ecosystem.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•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Graph Neural Network (GNN)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analyzes user performance and learning relationships to recommend personalized next steps and guide students toward higher skill levels.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• AI-powered tools such as Llama-based tutoring assist learners with instant doubt clarification and adaptive question generation.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• The system includes a secure code execution environment for hands-on programming practice.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• Certification exams are protected using an AI-based proctoring system that monitors webcam activity, detects tab switching, and performs audio detection to prevent malpractice.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• The platform provides performance analytics, leaderboard tracking, and digital certificate generation for credible skill validation.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• Overall,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LearnQuest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combines intelligent personalization, secure evaluation, and scalable architecture to create a reliable and future-ready education platform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59473" y="505522"/>
            <a:ext cx="8928409" cy="4475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7239D-5A80-81FC-A8EE-62C1BB81E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29834"/>
              </p:ext>
            </p:extLst>
          </p:nvPr>
        </p:nvGraphicFramePr>
        <p:xfrm>
          <a:off x="234175" y="668997"/>
          <a:ext cx="8675649" cy="4123471"/>
        </p:xfrm>
        <a:graphic>
          <a:graphicData uri="http://schemas.openxmlformats.org/drawingml/2006/table">
            <a:tbl>
              <a:tblPr firstRow="1" lastRow="1" bandRow="1">
                <a:effectLst/>
                <a:tableStyleId>{E8034E78-7F5D-4C2E-B375-FC64B27BC917}</a:tableStyleId>
              </a:tblPr>
              <a:tblGrid>
                <a:gridCol w="2780372">
                  <a:extLst>
                    <a:ext uri="{9D8B030D-6E8A-4147-A177-3AD203B41FA5}">
                      <a16:colId xmlns:a16="http://schemas.microsoft.com/office/drawing/2014/main" val="2116634567"/>
                    </a:ext>
                  </a:extLst>
                </a:gridCol>
                <a:gridCol w="3003394">
                  <a:extLst>
                    <a:ext uri="{9D8B030D-6E8A-4147-A177-3AD203B41FA5}">
                      <a16:colId xmlns:a16="http://schemas.microsoft.com/office/drawing/2014/main" val="718243023"/>
                    </a:ext>
                  </a:extLst>
                </a:gridCol>
                <a:gridCol w="2891883">
                  <a:extLst>
                    <a:ext uri="{9D8B030D-6E8A-4147-A177-3AD203B41FA5}">
                      <a16:colId xmlns:a16="http://schemas.microsoft.com/office/drawing/2014/main" val="2978784411"/>
                    </a:ext>
                  </a:extLst>
                </a:gridCol>
              </a:tblGrid>
              <a:tr h="52790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How is our solution different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How Does It Solve the Problem?</a:t>
                      </a:r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USP (Unique Selling Point)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834055"/>
                  </a:ext>
                </a:extLst>
              </a:tr>
              <a:tr h="359557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Most learning platforms only provide videos and notes.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LearnQuest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combines learning, AI support, exams, and certification in one system.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We provide real-time AI doubt support instead of waiting for teachers.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Our platform includes AI-based proctoring, which many platforms do not offer.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It focuses on both learning quality and exam security.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Students get instant help through the AI chatbot.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Structured courses reduce confusion in learning.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Practice tests improve exam readiness.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Secure proctoring prevents cheating.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Performance tracking helps students improve continuously.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The platform provides personalized learning suggestions based on user performance, helping students focus on weak areas.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All-in-one AI-powered learning and certification platform.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24/7 AI-based doubt clarification system.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Secure online exams with intelligent proctoring.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Personalized progress tracking and rewards.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Reliable and trustworthy digital certificates.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Easy-to-use interface designed for beginners and non-technical users.</a:t>
                      </a:r>
                    </a:p>
                    <a:p>
                      <a:endParaRPr lang="en-IN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10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0C388F-4464-BC92-3803-9F7E44DA7F91}"/>
              </a:ext>
            </a:extLst>
          </p:cNvPr>
          <p:cNvSpPr txBox="1"/>
          <p:nvPr/>
        </p:nvSpPr>
        <p:spPr>
          <a:xfrm>
            <a:off x="-193729" y="596685"/>
            <a:ext cx="8779790" cy="332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600" b="1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Manrope"/>
              </a:rPr>
              <a:t>                                                                    FEATURES OFFERED BY LEARQUEST 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2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Manrope"/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lang="en-US" sz="12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lang="en-US" sz="12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lang="en-US" sz="12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lang="en-US" sz="12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lang="en-US" sz="12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Manrop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393877-5487-11D5-7B27-8FB48A081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12" t="4270" r="4602" b="2737"/>
          <a:stretch>
            <a:fillRect/>
          </a:stretch>
        </p:blipFill>
        <p:spPr>
          <a:xfrm>
            <a:off x="1429718" y="960895"/>
            <a:ext cx="6474417" cy="3882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784500" y="864594"/>
            <a:ext cx="7414206" cy="378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0" y="627681"/>
            <a:ext cx="9144000" cy="451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600" b="1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Manrope"/>
                <a:sym typeface="Manrope"/>
              </a:rPr>
              <a:t>                                                                </a:t>
            </a:r>
            <a:r>
              <a:rPr lang="en-IN" sz="1600" b="1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Manrope"/>
              </a:rPr>
              <a:t>LEARNQUEST PROJECT FLOW</a:t>
            </a:r>
            <a:endParaRPr sz="16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Manrop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DBE0-65A6-57C0-3103-5A78AF2A4E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9" t="10480" r="2595" b="7802"/>
          <a:stretch>
            <a:fillRect/>
          </a:stretch>
        </p:blipFill>
        <p:spPr>
          <a:xfrm>
            <a:off x="152077" y="1044483"/>
            <a:ext cx="8679052" cy="3846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7CD0DD-A783-0334-D7F6-C7C29F379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8" y="870874"/>
            <a:ext cx="9027763" cy="418738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79397F-7490-8BCD-03A9-1EF9A8342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85241"/>
            <a:ext cx="8520600" cy="488196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 FOR LEARNQUEST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6D39025-68A4-9199-9162-0803F196B1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05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209227" y="604434"/>
            <a:ext cx="8717797" cy="426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Manrope"/>
              </a:rPr>
              <a:t> </a:t>
            </a:r>
            <a:endParaRPr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Manrope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644171-BA88-C798-91F8-90BCEA455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49406"/>
              </p:ext>
            </p:extLst>
          </p:nvPr>
        </p:nvGraphicFramePr>
        <p:xfrm>
          <a:off x="100739" y="511444"/>
          <a:ext cx="8717797" cy="4632054"/>
        </p:xfrm>
        <a:graphic>
          <a:graphicData uri="http://schemas.openxmlformats.org/drawingml/2006/table">
            <a:tbl>
              <a:tblPr/>
              <a:tblGrid>
                <a:gridCol w="2910822">
                  <a:extLst>
                    <a:ext uri="{9D8B030D-6E8A-4147-A177-3AD203B41FA5}">
                      <a16:colId xmlns:a16="http://schemas.microsoft.com/office/drawing/2014/main" val="3197694922"/>
                    </a:ext>
                  </a:extLst>
                </a:gridCol>
                <a:gridCol w="2910822">
                  <a:extLst>
                    <a:ext uri="{9D8B030D-6E8A-4147-A177-3AD203B41FA5}">
                      <a16:colId xmlns:a16="http://schemas.microsoft.com/office/drawing/2014/main" val="3382323023"/>
                    </a:ext>
                  </a:extLst>
                </a:gridCol>
                <a:gridCol w="2896153">
                  <a:extLst>
                    <a:ext uri="{9D8B030D-6E8A-4147-A177-3AD203B41FA5}">
                      <a16:colId xmlns:a16="http://schemas.microsoft.com/office/drawing/2014/main" val="1514786066"/>
                    </a:ext>
                  </a:extLst>
                </a:gridCol>
              </a:tblGrid>
              <a:tr h="5989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/>
                        <a:t>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       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 STACK</a:t>
                      </a:r>
                      <a:r>
                        <a:rPr lang="en-IN" sz="1600" dirty="0"/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667432"/>
                  </a:ext>
                </a:extLst>
              </a:tr>
              <a:tr h="7217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529126"/>
                  </a:ext>
                </a:extLst>
              </a:tr>
              <a:tr h="7217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08303"/>
                  </a:ext>
                </a:extLst>
              </a:tr>
              <a:tr h="7217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100578"/>
                  </a:ext>
                </a:extLst>
              </a:tr>
              <a:tr h="7217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387924"/>
                  </a:ext>
                </a:extLst>
              </a:tr>
              <a:tr h="4245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337925"/>
                  </a:ext>
                </a:extLst>
              </a:tr>
              <a:tr h="7217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94787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FF74E9CB-5A12-1539-9318-6676B52BB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94254"/>
              </p:ext>
            </p:extLst>
          </p:nvPr>
        </p:nvGraphicFramePr>
        <p:xfrm>
          <a:off x="325464" y="1146875"/>
          <a:ext cx="8507385" cy="35538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35795">
                  <a:extLst>
                    <a:ext uri="{9D8B030D-6E8A-4147-A177-3AD203B41FA5}">
                      <a16:colId xmlns:a16="http://schemas.microsoft.com/office/drawing/2014/main" val="2887371532"/>
                    </a:ext>
                  </a:extLst>
                </a:gridCol>
                <a:gridCol w="2835795">
                  <a:extLst>
                    <a:ext uri="{9D8B030D-6E8A-4147-A177-3AD203B41FA5}">
                      <a16:colId xmlns:a16="http://schemas.microsoft.com/office/drawing/2014/main" val="447087408"/>
                    </a:ext>
                  </a:extLst>
                </a:gridCol>
                <a:gridCol w="2835795">
                  <a:extLst>
                    <a:ext uri="{9D8B030D-6E8A-4147-A177-3AD203B41FA5}">
                      <a16:colId xmlns:a16="http://schemas.microsoft.com/office/drawing/2014/main" val="161047500"/>
                    </a:ext>
                  </a:extLst>
                </a:gridCol>
              </a:tblGrid>
              <a:tr h="395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135279"/>
                  </a:ext>
                </a:extLst>
              </a:tr>
              <a:tr h="548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React, Vite, TailwindCSS, Monaco Editor, Chart.js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Build and display user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015521"/>
                  </a:ext>
                </a:extLst>
              </a:tr>
              <a:tr h="548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Backend (API)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FastAPI, Uvicorn, JWT 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Handle requests, authentication, and business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584656"/>
                  </a:ext>
                </a:extLst>
              </a:tr>
              <a:tr h="548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AI &amp;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Llama 3, YOLO, </a:t>
                      </a:r>
                      <a:r>
                        <a:rPr lang="es-E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MediaPipe</a:t>
                      </a:r>
                      <a:r>
                        <a:rPr lang="es-E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E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r>
                        <a:rPr lang="es-E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Transformers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AI tutoring, proctoring, and recommendations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917787"/>
                  </a:ext>
                </a:extLst>
              </a:tr>
              <a:tr h="548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Databases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MongoDB, PostgreSQL, Redis, ChromaDB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Store user, course, and AI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843291"/>
                  </a:ext>
                </a:extLst>
              </a:tr>
              <a:tr h="417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Code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Judge0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Securely run and evaluate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336114"/>
                  </a:ext>
                </a:extLst>
              </a:tr>
              <a:tr h="548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Docker, Kubernetes, Nginx, Terraform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Deployment, scaling, and system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760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5BE95E2-BC7B-8FB7-567E-CBE4ADB3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>
            <a:extLst>
              <a:ext uri="{FF2B5EF4-FFF2-40B4-BE49-F238E27FC236}">
                <a16:creationId xmlns:a16="http://schemas.microsoft.com/office/drawing/2014/main" id="{9923F62A-8459-28D7-1F0D-3F94760DE479}"/>
              </a:ext>
            </a:extLst>
          </p:cNvPr>
          <p:cNvSpPr txBox="1"/>
          <p:nvPr/>
        </p:nvSpPr>
        <p:spPr>
          <a:xfrm>
            <a:off x="100739" y="619932"/>
            <a:ext cx="8942522" cy="446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800" b="1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Manrope"/>
                <a:sym typeface="Manrope"/>
              </a:rPr>
              <a:t>                                   GRAPH NEURAL NETWORK (GNN) IN LEARNQUEST</a:t>
            </a:r>
          </a:p>
          <a:p>
            <a:r>
              <a:rPr lang="en-US" sz="1500" dirty="0"/>
              <a:t>•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LearnQuest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models the learning ecosystem as a connected graph of users, topics, modules, assessments, skill levels, and certifications instead of treating them independently.</a:t>
            </a:r>
          </a:p>
          <a:p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• Nodes represent learners and learning components, while edges capture relationships such as topic completion, prerequisite links, assessment attempts, proficiency levels, and learner similarity.</a:t>
            </a:r>
          </a:p>
          <a:p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• These relationships are weighted using performance metrics like scores, accuracy, time spent, and engagement.</a:t>
            </a:r>
          </a:p>
          <a:p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• The GNN builds a dynamic weighted graph and applies message passing and aggregation to learn meaningful patterns across connected nodes.</a:t>
            </a:r>
          </a:p>
          <a:p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• It generates embeddings that represent each learner’s knowledge state and progression.</a:t>
            </a:r>
          </a:p>
          <a:p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• Based on these embeddings, the system recommends the next best topic, difficulty progression, remedial areas, and certification readiness.</a:t>
            </a:r>
          </a:p>
          <a:p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• This enables adaptive, personalized, and data-driven learning beyond traditional rule-based systems.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Manrope"/>
                <a:sym typeface="Manrope"/>
              </a:rPr>
              <a:t> </a:t>
            </a:r>
            <a:endParaRPr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41918288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650</Words>
  <Application>Microsoft Office PowerPoint</Application>
  <PresentationFormat>On-screen Show (16:9)</PresentationFormat>
  <Paragraphs>82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</vt:lpstr>
      <vt:lpstr>Arial</vt:lpstr>
      <vt:lpstr>Manrope</vt:lpstr>
      <vt:lpstr>Manrope SemiBold</vt:lpstr>
      <vt:lpstr>Cambria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 DIAGRAM FOR LEARNQUEST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Yuvashri M</dc:creator>
  <cp:lastModifiedBy>jhananishribala@outlook.com</cp:lastModifiedBy>
  <cp:revision>6</cp:revision>
  <dcterms:modified xsi:type="dcterms:W3CDTF">2026-02-24T04:44:31Z</dcterms:modified>
</cp:coreProperties>
</file>